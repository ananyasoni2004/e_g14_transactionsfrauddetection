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5EFE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Unknown
Device</c:v>
                </c:pt>
                <c:pt idx="1">
                  <c:v>Known
Device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8.7200000000000006</c:v>
                </c:pt>
                <c:pt idx="1">
                  <c:v>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6D-5943-985C-119483F218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5EF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151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8B0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2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5EFE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Domestic</c:v>
                </c:pt>
                <c:pt idx="1">
                  <c:v>Foreign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1.01</c:v>
                </c:pt>
                <c:pt idx="1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8E-0248-AFDC-3826553898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5EF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151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8B0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2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5EFE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2FA</c:v>
                </c:pt>
                <c:pt idx="1">
                  <c:v>2FA Enabled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2.0299999999999998</c:v>
                </c:pt>
                <c:pt idx="1">
                  <c:v>1.54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7C-744E-8BE3-2594FB17F2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5EF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151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8B0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2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5EFE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Isolated Fraud Account</c:v>
                </c:pt>
                <c:pt idx="1">
                  <c:v>Connected Fraud Account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2908</c:v>
                </c:pt>
                <c:pt idx="1">
                  <c:v>1086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90-194B-A2B1-BF79E0E5A8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5EF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151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B0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2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328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F0509"/>
          </a:solidFill>
          <a:ln w="12700">
            <a:solidFill>
              <a:srgbClr val="0F05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3444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0876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8308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5740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3172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0604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8036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5468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2900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0332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97764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5196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2628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2423160"/>
            <a:ext cx="4114800" cy="2560320"/>
          </a:xfrm>
          <a:prstGeom prst="roundRect">
            <a:avLst>
              <a:gd name="adj" fmla="val 8929"/>
            </a:avLst>
          </a:prstGeom>
          <a:solidFill>
            <a:srgbClr val="DC2626">
              <a:alpha val="25000"/>
            </a:srgbClr>
          </a:solidFill>
          <a:ln w="12700">
            <a:solidFill>
              <a:srgbClr val="DC262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2560320"/>
            <a:ext cx="3840480" cy="2286000"/>
          </a:xfrm>
          <a:prstGeom prst="roundRect">
            <a:avLst>
              <a:gd name="adj" fmla="val 8000"/>
            </a:avLst>
          </a:prstGeom>
          <a:solidFill>
            <a:srgbClr val="1B0608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4400" y="2880360"/>
            <a:ext cx="640080" cy="502920"/>
          </a:xfrm>
          <a:prstGeom prst="roundRect">
            <a:avLst>
              <a:gd name="adj" fmla="val 9091"/>
            </a:avLst>
          </a:prstGeom>
          <a:solidFill>
            <a:srgbClr val="C2410C"/>
          </a:solidFill>
          <a:ln w="635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60120" y="2990088"/>
            <a:ext cx="548640" cy="0"/>
          </a:xfrm>
          <a:prstGeom prst="line">
            <a:avLst/>
          </a:prstGeom>
          <a:noFill/>
          <a:ln w="762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0120" y="3108960"/>
            <a:ext cx="548640" cy="0"/>
          </a:xfrm>
          <a:prstGeom prst="line">
            <a:avLst/>
          </a:prstGeom>
          <a:noFill/>
          <a:ln w="762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0120" y="3227832"/>
            <a:ext cx="548640" cy="0"/>
          </a:xfrm>
          <a:prstGeom prst="line">
            <a:avLst/>
          </a:prstGeom>
          <a:noFill/>
          <a:ln w="762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4457  9090  0437  5050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4160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CARDHOLDER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743200" y="4160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THRU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68680" y="4370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 E_G14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60720" y="1691640"/>
            <a:ext cx="1920240" cy="320040"/>
          </a:xfrm>
          <a:prstGeom prst="rect">
            <a:avLst/>
          </a:prstGeom>
          <a:solidFill>
            <a:srgbClr val="2A0808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6072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· BFSI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0" y="214884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Card</a:t>
            </a:r>
            <a:endParaRPr lang="en-US" sz="5200" dirty="0"/>
          </a:p>
        </p:txBody>
      </p:sp>
      <p:sp>
        <p:nvSpPr>
          <p:cNvPr id="35" name="Text 33"/>
          <p:cNvSpPr/>
          <p:nvPr/>
        </p:nvSpPr>
        <p:spPr>
          <a:xfrm>
            <a:off x="5669280" y="301752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Detection</a:t>
            </a:r>
            <a:endParaRPr lang="en-US" sz="5200" dirty="0"/>
          </a:p>
        </p:txBody>
      </p:sp>
      <p:sp>
        <p:nvSpPr>
          <p:cNvPr id="36" name="Text 34"/>
          <p:cNvSpPr/>
          <p:nvPr/>
        </p:nvSpPr>
        <p:spPr>
          <a:xfrm>
            <a:off x="5760720" y="39776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B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Dashboard  ·  Data Analytics &amp; Visualization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760720" y="4434840"/>
            <a:ext cx="1371600" cy="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760720" y="46177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 </a:t>
            </a: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E_G14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760720" y="49834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 </a:t>
            </a:r>
            <a:r>
              <a:rPr lang="en-US" sz="13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Ananya Soni · Shaurya Sharma · Parrv Luthra · Yug Johri · Ranajeet Roy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760720" y="53492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 </a:t>
            </a:r>
            <a:r>
              <a:rPr lang="en-US" sz="13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Aayushi Vashishth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760720" y="626364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ANALYTICS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$12.5M Question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Detecting Fraud Without Punishing Real Customers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611880" cy="260604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  <a:effectLst>
            <a:outerShdw blurRad="177800" dist="635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6118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90779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3375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1.71%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77724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17,143 fraud cases on 1M transactions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70832" y="2606040"/>
            <a:ext cx="3611880" cy="260604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  <a:effectLst>
            <a:outerShdw blurRad="177800" dist="635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70832" y="2606040"/>
            <a:ext cx="36118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45152" y="2788920"/>
            <a:ext cx="502920" cy="50292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90779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99432" y="33375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$12.5M</a:t>
            </a:r>
            <a:endParaRPr lang="en-US" sz="5600" dirty="0"/>
          </a:p>
        </p:txBody>
      </p:sp>
      <p:sp>
        <p:nvSpPr>
          <p:cNvPr id="18" name="Text 14"/>
          <p:cNvSpPr/>
          <p:nvPr/>
        </p:nvSpPr>
        <p:spPr>
          <a:xfrm>
            <a:off x="4599432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Fraud Loss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599432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exposure ($12,516,734)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93024" y="2606040"/>
            <a:ext cx="3611880" cy="260604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  <a:effectLst>
            <a:outerShdw blurRad="177800" dist="635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193024" y="2606040"/>
            <a:ext cx="36118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467344" y="2788920"/>
            <a:ext cx="502920" cy="50292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290779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21624" y="33375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$730 vs $174</a:t>
            </a:r>
            <a:endParaRPr lang="en-US" sz="3200" dirty="0"/>
          </a:p>
        </p:txBody>
      </p:sp>
      <p:sp>
        <p:nvSpPr>
          <p:cNvPr id="25" name="Text 20"/>
          <p:cNvSpPr/>
          <p:nvPr/>
        </p:nvSpPr>
        <p:spPr>
          <a:xfrm>
            <a:off x="8421624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vs Legit Avg $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421624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transactions are ~4.2× larger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5532120"/>
            <a:ext cx="11064240" cy="868680"/>
          </a:xfrm>
          <a:prstGeom prst="rect">
            <a:avLst/>
          </a:prstGeom>
          <a:solidFill>
            <a:srgbClr val="1B0608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779008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56235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  </a:t>
            </a:r>
            <a:r>
              <a:rPr lang="en-US" sz="13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high-risk transactions early, recover preventable losses (~$249K identified), and reduce friction for the 98.3% of legitimate customers.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0312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Foundation &amp; Dashboard Design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937760" cy="137160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945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Transaction Dataset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80160" y="2487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Kaggle  ·  global, multi-currency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7240" y="3108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28600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17K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286000" y="3108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Cases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79476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794760" y="3108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Rings Detected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3611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SIGNALS USED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950208"/>
            <a:ext cx="4937760" cy="502920"/>
          </a:xfrm>
          <a:prstGeom prst="rect">
            <a:avLst/>
          </a:prstGeom>
          <a:solidFill>
            <a:srgbClr val="1A1A24"/>
          </a:solidFill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06908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97280" y="40050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ip_risk_score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834640" y="40050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Network-level risk indicator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4517136"/>
            <a:ext cx="4937760" cy="502920"/>
          </a:xfrm>
          <a:prstGeom prst="rect">
            <a:avLst/>
          </a:prstGeom>
          <a:solidFill>
            <a:srgbClr val="1A1A24"/>
          </a:solidFill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63600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97280" y="4572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device_known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2834640" y="4572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vs unknown device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5084064"/>
            <a:ext cx="4937760" cy="502920"/>
          </a:xfrm>
          <a:prstGeom prst="rect">
            <a:avLst/>
          </a:prstGeom>
          <a:solidFill>
            <a:srgbClr val="1A1A24"/>
          </a:solidFill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520293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" y="51389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is_foreign_txn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2834640" y="51389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activity flag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" y="5650992"/>
            <a:ext cx="4937760" cy="502920"/>
          </a:xfrm>
          <a:prstGeom prst="rect">
            <a:avLst/>
          </a:prstGeom>
          <a:solidFill>
            <a:srgbClr val="1A1A24"/>
          </a:solidFill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769864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97280" y="57058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has_2fa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2834640" y="57058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Two-factor auth presence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760720" y="1691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5-PAGE DASHBOARD ARCHITECTURE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760720" y="2011680"/>
            <a:ext cx="5852160" cy="713232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5760720" y="2011680"/>
            <a:ext cx="777240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5760720" y="201168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38" name="Text 31"/>
          <p:cNvSpPr/>
          <p:nvPr/>
        </p:nvSpPr>
        <p:spPr>
          <a:xfrm>
            <a:off x="6675120" y="2084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Monitoring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6675120" y="23957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KPIs · Time series · Hour &amp; weekday trends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5760720" y="2852928"/>
            <a:ext cx="5852160" cy="713232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5760720" y="2852928"/>
            <a:ext cx="777240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5760720" y="285292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43" name="Text 36"/>
          <p:cNvSpPr/>
          <p:nvPr/>
        </p:nvSpPr>
        <p:spPr>
          <a:xfrm>
            <a:off x="667512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&amp; Risk Analysis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6675120" y="32369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× fraud · IP risk · Device · 2FA · Foreign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5760720" y="3694176"/>
            <a:ext cx="5852160" cy="713232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5760720" y="3694176"/>
            <a:ext cx="777240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5760720" y="369417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8" name="Text 41"/>
          <p:cNvSpPr/>
          <p:nvPr/>
        </p:nvSpPr>
        <p:spPr>
          <a:xfrm>
            <a:off x="6675120" y="3767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Category, Geo &amp; Account</a:t>
            </a:r>
            <a:endParaRPr lang="en-US" sz="1400" dirty="0"/>
          </a:p>
        </p:txBody>
      </p:sp>
      <p:sp>
        <p:nvSpPr>
          <p:cNvPr id="49" name="Text 42"/>
          <p:cNvSpPr/>
          <p:nvPr/>
        </p:nvSpPr>
        <p:spPr>
          <a:xfrm>
            <a:off x="6675120" y="40782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map · Merchant categories · Account types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5760720" y="4535424"/>
            <a:ext cx="5852160" cy="713232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4"/>
          <p:cNvSpPr/>
          <p:nvPr/>
        </p:nvSpPr>
        <p:spPr>
          <a:xfrm>
            <a:off x="5760720" y="4535424"/>
            <a:ext cx="777240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/>
          <p:nvPr/>
        </p:nvSpPr>
        <p:spPr>
          <a:xfrm>
            <a:off x="5760720" y="453542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53" name="Text 46"/>
          <p:cNvSpPr/>
          <p:nvPr/>
        </p:nvSpPr>
        <p:spPr>
          <a:xfrm>
            <a:off x="6675120" y="46085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Pattern &amp; Network</a:t>
            </a:r>
            <a:endParaRPr lang="en-US" sz="1400" dirty="0"/>
          </a:p>
        </p:txBody>
      </p:sp>
      <p:sp>
        <p:nvSpPr>
          <p:cNvPr id="54" name="Text 47"/>
          <p:cNvSpPr/>
          <p:nvPr/>
        </p:nvSpPr>
        <p:spPr>
          <a:xfrm>
            <a:off x="6675120" y="49194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distribution · Avg by type · Linked accounts</a:t>
            </a:r>
            <a:endParaRPr lang="en-US" sz="950" dirty="0"/>
          </a:p>
        </p:txBody>
      </p:sp>
      <p:sp>
        <p:nvSpPr>
          <p:cNvPr id="55" name="Shape 48"/>
          <p:cNvSpPr/>
          <p:nvPr/>
        </p:nvSpPr>
        <p:spPr>
          <a:xfrm>
            <a:off x="5760720" y="5376672"/>
            <a:ext cx="5852160" cy="713232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9"/>
          <p:cNvSpPr/>
          <p:nvPr/>
        </p:nvSpPr>
        <p:spPr>
          <a:xfrm>
            <a:off x="5760720" y="5376672"/>
            <a:ext cx="777240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/>
          <p:nvPr/>
        </p:nvSpPr>
        <p:spPr>
          <a:xfrm>
            <a:off x="5760720" y="5376672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58" name="Text 51"/>
          <p:cNvSpPr/>
          <p:nvPr/>
        </p:nvSpPr>
        <p:spPr>
          <a:xfrm>
            <a:off x="6675120" y="54498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&amp; Actionable Insights</a:t>
            </a:r>
            <a:endParaRPr lang="en-US" sz="1400" dirty="0"/>
          </a:p>
        </p:txBody>
      </p:sp>
      <p:sp>
        <p:nvSpPr>
          <p:cNvPr id="59" name="Text 52"/>
          <p:cNvSpPr/>
          <p:nvPr/>
        </p:nvSpPr>
        <p:spPr>
          <a:xfrm>
            <a:off x="6675120" y="57607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· Factor contribution · Preventable loss</a:t>
            </a:r>
            <a:endParaRPr lang="en-US" sz="950" dirty="0"/>
          </a:p>
        </p:txBody>
      </p:sp>
      <p:sp>
        <p:nvSpPr>
          <p:cNvPr id="60" name="Shape 53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Overview — Fraud Monitoring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10515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470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1,000,000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8580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Transactions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37560" y="1691640"/>
            <a:ext cx="2606040" cy="10515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37560" y="169164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84708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17,143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47472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Fraud Cases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26480" y="1691640"/>
            <a:ext cx="2606040" cy="10515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26480" y="169164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84708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1.71%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626364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915400" y="1691640"/>
            <a:ext cx="2606040" cy="10515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915400" y="169164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2" y="184708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52560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$12.5M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905256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Fraud Loss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93776" y="2871216"/>
            <a:ext cx="7790688" cy="3447288"/>
          </a:xfrm>
          <a:prstGeom prst="rect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530352" y="2907792"/>
            <a:ext cx="7717536" cy="3374136"/>
          </a:xfrm>
          <a:prstGeom prst="rect">
            <a:avLst/>
          </a:prstGeom>
          <a:solidFill>
            <a:srgbClr val="0F0509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548640" y="2926080"/>
            <a:ext cx="7680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/home/claude/fraud_ppt/screenshots/p1_monitor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926080"/>
            <a:ext cx="7680960" cy="333756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412480" y="2926080"/>
            <a:ext cx="3200400" cy="33375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12480" y="2926080"/>
            <a:ext cx="32004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8595360" y="3035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READOUT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8595360" y="3383280"/>
            <a:ext cx="36576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8732520" y="33649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Steady fraud rate ~1.66–1.75%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8732520" y="360273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weekdays — no obvious calendar gap to exploit.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8595360" y="4096512"/>
            <a:ext cx="36576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8732520" y="407822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 distribution is flat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8732520" y="431596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per hour is uniform; detection cannot rely on time alone.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8595360" y="4809744"/>
            <a:ext cx="36576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8732520" y="47914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 fraud count ~10K/day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8732520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 drop on the final day signals incomplete data window.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8595360" y="5522976"/>
            <a:ext cx="36576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8732520" y="55046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age does not correlate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8732520" y="57424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appears across the full 0–3,500 day age range.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&amp; Risk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B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Amount × Fraud scatter shows fraud transactions are larger and ride above the trend — risk concentrates as ticket size grows.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" y="2048256"/>
            <a:ext cx="7973568" cy="4361688"/>
          </a:xfrm>
          <a:prstGeom prst="rect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2084832"/>
            <a:ext cx="7900416" cy="4288536"/>
          </a:xfrm>
          <a:prstGeom prst="rect">
            <a:avLst/>
          </a:prstGeom>
          <a:solidFill>
            <a:srgbClr val="0F0509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86384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fraud_ppt/screenshots/p2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7863840" cy="4251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95360" y="2103120"/>
            <a:ext cx="3017520" cy="42519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595360" y="2103120"/>
            <a:ext cx="30175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73252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732520" y="2560320"/>
            <a:ext cx="2743200" cy="841248"/>
          </a:xfrm>
          <a:prstGeom prst="rect">
            <a:avLst/>
          </a:prstGeom>
          <a:solidFill>
            <a:srgbClr val="0F0509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732520" y="2560320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869680" y="2633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$730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869680" y="3017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Fraud Amount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869680" y="32095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$174 legit  ·  4.2× higher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732520" y="3520440"/>
            <a:ext cx="2743200" cy="841248"/>
          </a:xfrm>
          <a:prstGeom prst="rect">
            <a:avLst/>
          </a:prstGeom>
          <a:solidFill>
            <a:srgbClr val="0F0509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732520" y="3520440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869680" y="3593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58.32%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869680" y="39776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is Foreign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869680" y="41696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activity dominates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8732520" y="4480560"/>
            <a:ext cx="2743200" cy="841248"/>
          </a:xfrm>
          <a:prstGeom prst="rect">
            <a:avLst/>
          </a:prstGeom>
          <a:solidFill>
            <a:srgbClr val="0F0509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732520" y="4480560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869680" y="4553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41.77%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869680" y="4937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has No 2FA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869680" y="51297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auth is highly predictive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732520" y="5440680"/>
            <a:ext cx="2743200" cy="841248"/>
          </a:xfrm>
          <a:prstGeom prst="rect">
            <a:avLst/>
          </a:prstGeom>
          <a:solidFill>
            <a:srgbClr val="0F0509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732520" y="5440680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869680" y="5513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89.09%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8869680" y="5897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Risk Score = 100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869680" y="60899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IP-risk band is essentially fraud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46888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2 CONT.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Signal Breakdown — Real Numbers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B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independent fraud signals — each separates fraud from legitimate transactions by 1.3× to 10×.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0" cy="42519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6576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KNOWN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 by device recognition</a:t>
            </a:r>
            <a:endParaRPr lang="en-US" sz="9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40080" y="2880360"/>
          <a:ext cx="34747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731520" y="5486400"/>
            <a:ext cx="3291840" cy="777240"/>
          </a:xfrm>
          <a:prstGeom prst="rect">
            <a:avLst/>
          </a:prstGeom>
          <a:solidFill>
            <a:srgbClr val="1B06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41248" y="55595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device = 10× the fraud rate of a returning device.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343400" y="2103120"/>
            <a:ext cx="3657600" cy="42519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43400" y="2103120"/>
            <a:ext cx="36576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2628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TRANSACTION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26280" y="2542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 domestic vs foreign</a:t>
            </a:r>
            <a:endParaRPr lang="en-US" sz="900" dirty="0"/>
          </a:p>
        </p:txBody>
      </p:sp>
      <p:graphicFrame>
        <p:nvGraphicFramePr>
          <p:cNvPr id="17" name="Chart 1"/>
          <p:cNvGraphicFramePr/>
          <p:nvPr/>
        </p:nvGraphicFramePr>
        <p:xfrm>
          <a:off x="4434840" y="2880360"/>
          <a:ext cx="34747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4526280" y="5486400"/>
            <a:ext cx="3291840" cy="777240"/>
          </a:xfrm>
          <a:prstGeom prst="rect">
            <a:avLst/>
          </a:prstGeom>
          <a:solidFill>
            <a:srgbClr val="1B06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636008" y="55595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transactions carry 3.4× the domestic fraud rate.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138160" y="2103120"/>
            <a:ext cx="3657600" cy="42519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138160" y="2103120"/>
            <a:ext cx="36576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832104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 ENABLED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321040" y="2542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 with vs without 2FA</a:t>
            </a:r>
            <a:endParaRPr lang="en-US" sz="900" dirty="0"/>
          </a:p>
        </p:txBody>
      </p:sp>
      <p:graphicFrame>
        <p:nvGraphicFramePr>
          <p:cNvPr id="24" name="Chart 2"/>
          <p:cNvGraphicFramePr/>
          <p:nvPr/>
        </p:nvGraphicFramePr>
        <p:xfrm>
          <a:off x="8229600" y="2880360"/>
          <a:ext cx="34747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Shape 20"/>
          <p:cNvSpPr/>
          <p:nvPr/>
        </p:nvSpPr>
        <p:spPr>
          <a:xfrm>
            <a:off x="8321040" y="5486400"/>
            <a:ext cx="3291840" cy="777240"/>
          </a:xfrm>
          <a:prstGeom prst="rect">
            <a:avLst/>
          </a:prstGeom>
          <a:solidFill>
            <a:srgbClr val="1B06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8430768" y="55595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2FA correlates with higher fraud — and 41.77% of fraud cases skip it.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Hotspots &amp; Investigation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B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fraud country: Romania (RO) at 1.82%. Highest-risk merchant categories: crypto, gambling, money_transfer.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" y="2048256"/>
            <a:ext cx="7333488" cy="4361688"/>
          </a:xfrm>
          <a:prstGeom prst="rect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2084832"/>
            <a:ext cx="7260336" cy="4288536"/>
          </a:xfrm>
          <a:prstGeom prst="rect">
            <a:avLst/>
          </a:prstGeom>
          <a:solidFill>
            <a:srgbClr val="0F0509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2237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fraud_ppt/screenshots/p3_g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7223760" cy="4251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955280" y="2103120"/>
            <a:ext cx="3657600" cy="42519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138160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WORKFLOW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183880" y="260604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1838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823960" y="25877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823960" y="28803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crosses threshold; transaction flagged for review.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435340" y="3154680"/>
            <a:ext cx="0" cy="320040"/>
          </a:xfrm>
          <a:prstGeom prst="line">
            <a:avLst/>
          </a:prstGeom>
          <a:noFill/>
          <a:ln w="19050">
            <a:solidFill>
              <a:srgbClr val="991B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83880" y="352044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1838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823960" y="35021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823960" y="37947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Geo-routing assigns case to regional analyst pool by hotspot.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435340" y="4069080"/>
            <a:ext cx="0" cy="320040"/>
          </a:xfrm>
          <a:prstGeom prst="line">
            <a:avLst/>
          </a:prstGeom>
          <a:noFill/>
          <a:ln w="19050">
            <a:solidFill>
              <a:srgbClr val="991B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183880" y="443484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1838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823960" y="44165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823960" y="47091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reviews velocity, device, and ring linkage in case view.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435340" y="4983480"/>
            <a:ext cx="0" cy="320040"/>
          </a:xfrm>
          <a:prstGeom prst="line">
            <a:avLst/>
          </a:prstGeom>
          <a:noFill/>
          <a:ln w="19050">
            <a:solidFill>
              <a:srgbClr val="991B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183880" y="534924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1838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823960" y="53309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823960" y="5623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Block, clear, or escalate — outcome retrains the model.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PAGES 3 &amp;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Rings &amp; Connected Accounts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B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 fraud rings link 3,920 accounts — and 26.7% of fraud accounts are connected to at least one other.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937760" cy="12801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73152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548640" cy="54864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060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2677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508760" y="2852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Fraud Rings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508760" y="31089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connected clusters detected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3520440"/>
            <a:ext cx="4937760" cy="12801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3520440"/>
            <a:ext cx="73152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233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08760" y="36850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3,920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1508760" y="4270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in Rings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508760" y="45262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through shared fraud signals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48640" y="4937760"/>
            <a:ext cx="4937760" cy="12801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48640" y="4937760"/>
            <a:ext cx="73152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44068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08760" y="51023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26.72%</a:t>
            </a:r>
            <a:endParaRPr lang="en-US" sz="3600" dirty="0"/>
          </a:p>
        </p:txBody>
      </p:sp>
      <p:sp>
        <p:nvSpPr>
          <p:cNvPr id="25" name="Text 20"/>
          <p:cNvSpPr/>
          <p:nvPr/>
        </p:nvSpPr>
        <p:spPr>
          <a:xfrm>
            <a:off x="1508760" y="5687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Accounts Connected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508760" y="594360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 to at least one other fraud account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760720" y="2103120"/>
            <a:ext cx="5852160" cy="42519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760720" y="2103120"/>
            <a:ext cx="58521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943600" y="2212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FRAUD ACCOUNTS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943600" y="2487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from Page 4: 'Both Fraud' analysis</a:t>
            </a:r>
            <a:endParaRPr lang="en-US" sz="9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5852160" y="2788920"/>
          <a:ext cx="56692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2" name="Shape 26"/>
          <p:cNvSpPr/>
          <p:nvPr/>
        </p:nvSpPr>
        <p:spPr>
          <a:xfrm>
            <a:off x="5943600" y="5669280"/>
            <a:ext cx="5486400" cy="594360"/>
          </a:xfrm>
          <a:prstGeom prst="rect">
            <a:avLst/>
          </a:prstGeom>
          <a:solidFill>
            <a:srgbClr val="1B06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6053328" y="5715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Catching one ring node lets investigators surface the other </a:t>
            </a: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1,086 </a:t>
            </a: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fraud accounts.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Pattern Distribution &amp; Avg Amount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B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Card-not-present is the dominant fraud type by count; account_takeover leads by average $ value at $1,203 per incident.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" y="2048256"/>
            <a:ext cx="7424928" cy="4361688"/>
          </a:xfrm>
          <a:prstGeom prst="rect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2084832"/>
            <a:ext cx="7351776" cy="4288536"/>
          </a:xfrm>
          <a:prstGeom prst="rect">
            <a:avLst/>
          </a:prstGeom>
          <a:solidFill>
            <a:srgbClr val="0F0509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3152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fraud_ppt/screenshots/p4_pat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7315200" cy="4251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46720" y="2103120"/>
            <a:ext cx="3566160" cy="42519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46720" y="2103120"/>
            <a:ext cx="35661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183880" y="2212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BREAKDOWN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183880" y="2468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 ·  Avg Amount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183880" y="2788920"/>
            <a:ext cx="3291840" cy="411480"/>
          </a:xfrm>
          <a:prstGeom prst="rect">
            <a:avLst/>
          </a:prstGeom>
          <a:solidFill>
            <a:srgbClr val="0F0509"/>
          </a:solidFill>
          <a:ln w="6350">
            <a:solidFill>
              <a:srgbClr val="2A1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75320" y="2788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card_not_present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058400" y="2788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34.89%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744200" y="27889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$772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183880" y="3264408"/>
            <a:ext cx="3291840" cy="411480"/>
          </a:xfrm>
          <a:prstGeom prst="rect">
            <a:avLst/>
          </a:prstGeom>
          <a:solidFill>
            <a:srgbClr val="0F0509"/>
          </a:solidFill>
          <a:ln w="6350">
            <a:solidFill>
              <a:srgbClr val="2A1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5320" y="32644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account_takeover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058400" y="32644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20.02%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744200" y="326440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$1,203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183880" y="3739896"/>
            <a:ext cx="3291840" cy="411480"/>
          </a:xfrm>
          <a:prstGeom prst="rect">
            <a:avLst/>
          </a:prstGeom>
          <a:solidFill>
            <a:srgbClr val="0F0509"/>
          </a:solidFill>
          <a:ln w="6350">
            <a:solidFill>
              <a:srgbClr val="2A1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75320" y="37398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card_present_stolen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0058400" y="373989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18.20%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744200" y="373989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$557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183880" y="4215384"/>
            <a:ext cx="3291840" cy="411480"/>
          </a:xfrm>
          <a:prstGeom prst="rect">
            <a:avLst/>
          </a:prstGeom>
          <a:solidFill>
            <a:srgbClr val="0F0509"/>
          </a:solidFill>
          <a:ln w="6350">
            <a:solidFill>
              <a:srgbClr val="2A1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75320" y="421538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friendly_fraud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0058400" y="421538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10.07%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744200" y="421538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$353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183880" y="4690872"/>
            <a:ext cx="3291840" cy="411480"/>
          </a:xfrm>
          <a:prstGeom prst="rect">
            <a:avLst/>
          </a:prstGeom>
          <a:solidFill>
            <a:srgbClr val="0F0509"/>
          </a:solidFill>
          <a:ln w="6350">
            <a:solidFill>
              <a:srgbClr val="2A1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275320" y="46908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atm_fraud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0058400" y="4690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7.09%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0744200" y="469087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$466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183880" y="5166360"/>
            <a:ext cx="3291840" cy="411480"/>
          </a:xfrm>
          <a:prstGeom prst="rect">
            <a:avLst/>
          </a:prstGeom>
          <a:solidFill>
            <a:srgbClr val="0F0509"/>
          </a:solidFill>
          <a:ln w="6350">
            <a:solidFill>
              <a:srgbClr val="2A1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275320" y="5166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identity_theft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0058400" y="5166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0744200" y="51663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$1,164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183880" y="5641848"/>
            <a:ext cx="3291840" cy="411480"/>
          </a:xfrm>
          <a:prstGeom prst="rect">
            <a:avLst/>
          </a:prstGeom>
          <a:solidFill>
            <a:srgbClr val="0F0509"/>
          </a:solidFill>
          <a:ln w="6350">
            <a:solidFill>
              <a:srgbClr val="2A1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275320" y="56418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money_laundering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10058400" y="56418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3.83%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10744200" y="564184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$94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&amp;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→ Five Rules → Real Impact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749040" cy="86868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212848"/>
            <a:ext cx="475488" cy="475488"/>
          </a:xfrm>
          <a:prstGeom prst="ellipse">
            <a:avLst/>
          </a:prstGeom>
          <a:solidFill>
            <a:srgbClr val="991B1B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32257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13055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Unknown device = 10× risk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25880" y="24231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8.72% fraud rate vs 0.87% on known devices.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3749040" cy="86868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13232" y="3172968"/>
            <a:ext cx="475488" cy="475488"/>
          </a:xfrm>
          <a:prstGeom prst="ellipse">
            <a:avLst/>
          </a:prstGeom>
          <a:solidFill>
            <a:srgbClr val="991B1B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28269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30906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txns dominate fraud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325880" y="3383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58.3% of fraud is cross-border; 3.4× domestic rate.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3749040" cy="86868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3232" y="4133088"/>
            <a:ext cx="475488" cy="475488"/>
          </a:xfrm>
          <a:prstGeom prst="ellipse">
            <a:avLst/>
          </a:prstGeom>
          <a:solidFill>
            <a:srgbClr val="991B1B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24281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40507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 risk is decisive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325880" y="4343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band 100 → 89.09% fraud rate.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4892040"/>
            <a:ext cx="3749040" cy="86868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13232" y="5093208"/>
            <a:ext cx="475488" cy="475488"/>
          </a:xfrm>
          <a:prstGeom prst="ellipse">
            <a:avLst/>
          </a:prstGeom>
          <a:solidFill>
            <a:srgbClr val="991B1B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5202936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5010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Organized rings detected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325880" y="5303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 rings linking 3,920 accounts.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43484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RULES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434840" y="2011680"/>
            <a:ext cx="3749040" cy="667512"/>
          </a:xfrm>
          <a:prstGeom prst="rect">
            <a:avLst/>
          </a:prstGeom>
          <a:solidFill>
            <a:srgbClr val="1B0608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434840" y="2011680"/>
            <a:ext cx="73152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19456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29200" y="20665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02920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Step-up Auth on Unknown Device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434840" y="2770632"/>
            <a:ext cx="3749040" cy="667512"/>
          </a:xfrm>
          <a:prstGeom prst="rect">
            <a:avLst/>
          </a:prstGeom>
          <a:solidFill>
            <a:srgbClr val="1B0608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4434840" y="2770632"/>
            <a:ext cx="73152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953512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029200" y="2825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029200" y="3044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Foreign-Txn Friction &amp; Limits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4434840" y="3529584"/>
            <a:ext cx="3749040" cy="667512"/>
          </a:xfrm>
          <a:prstGeom prst="rect">
            <a:avLst/>
          </a:prstGeom>
          <a:solidFill>
            <a:srgbClr val="1B0608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4434840" y="3529584"/>
            <a:ext cx="73152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712464"/>
            <a:ext cx="292608" cy="29260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029200" y="3584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5029200" y="38039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 / Hold on IP Risk ≥ 90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4434840" y="4288536"/>
            <a:ext cx="3749040" cy="667512"/>
          </a:xfrm>
          <a:prstGeom prst="rect">
            <a:avLst/>
          </a:prstGeom>
          <a:solidFill>
            <a:srgbClr val="1B0608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4434840" y="4288536"/>
            <a:ext cx="73152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471416"/>
            <a:ext cx="292608" cy="29260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029200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5029200" y="45628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 2FA on Risky Sessions</a:t>
            </a:r>
            <a:endParaRPr lang="en-US" sz="1150" dirty="0"/>
          </a:p>
        </p:txBody>
      </p:sp>
      <p:sp>
        <p:nvSpPr>
          <p:cNvPr id="47" name="Shape 37"/>
          <p:cNvSpPr/>
          <p:nvPr/>
        </p:nvSpPr>
        <p:spPr>
          <a:xfrm>
            <a:off x="4434840" y="5047488"/>
            <a:ext cx="3749040" cy="667512"/>
          </a:xfrm>
          <a:prstGeom prst="rect">
            <a:avLst/>
          </a:prstGeom>
          <a:solidFill>
            <a:srgbClr val="1B0608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8"/>
          <p:cNvSpPr/>
          <p:nvPr/>
        </p:nvSpPr>
        <p:spPr>
          <a:xfrm>
            <a:off x="4434840" y="5047488"/>
            <a:ext cx="73152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5230368"/>
            <a:ext cx="292608" cy="29260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029200" y="5102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5029200" y="53218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Auto-Freeze Linked Ring Accounts</a:t>
            </a:r>
            <a:endParaRPr lang="en-US" sz="1150" dirty="0"/>
          </a:p>
        </p:txBody>
      </p:sp>
      <p:sp>
        <p:nvSpPr>
          <p:cNvPr id="52" name="Text 41"/>
          <p:cNvSpPr/>
          <p:nvPr/>
        </p:nvSpPr>
        <p:spPr>
          <a:xfrm>
            <a:off x="83210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53" name="Shape 42"/>
          <p:cNvSpPr/>
          <p:nvPr/>
        </p:nvSpPr>
        <p:spPr>
          <a:xfrm>
            <a:off x="8321040" y="2011680"/>
            <a:ext cx="3291840" cy="123444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3"/>
          <p:cNvSpPr/>
          <p:nvPr/>
        </p:nvSpPr>
        <p:spPr>
          <a:xfrm>
            <a:off x="8321040" y="2011680"/>
            <a:ext cx="329184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4"/>
          <p:cNvSpPr/>
          <p:nvPr/>
        </p:nvSpPr>
        <p:spPr>
          <a:xfrm>
            <a:off x="8458200" y="2148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$249K</a:t>
            </a:r>
            <a:endParaRPr lang="en-US" sz="3200" dirty="0"/>
          </a:p>
        </p:txBody>
      </p:sp>
      <p:sp>
        <p:nvSpPr>
          <p:cNvPr id="56" name="Text 45"/>
          <p:cNvSpPr/>
          <p:nvPr/>
        </p:nvSpPr>
        <p:spPr>
          <a:xfrm>
            <a:off x="845820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Preventable Loss</a:t>
            </a:r>
            <a:endParaRPr lang="en-US" sz="1100" dirty="0"/>
          </a:p>
        </p:txBody>
      </p:sp>
      <p:sp>
        <p:nvSpPr>
          <p:cNvPr id="57" name="Text 46"/>
          <p:cNvSpPr/>
          <p:nvPr/>
        </p:nvSpPr>
        <p:spPr>
          <a:xfrm>
            <a:off x="8458200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by risk-score model ($249,219.16)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8321040" y="3383280"/>
            <a:ext cx="3291840" cy="123444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48"/>
          <p:cNvSpPr/>
          <p:nvPr/>
        </p:nvSpPr>
        <p:spPr>
          <a:xfrm>
            <a:off x="8321040" y="3383280"/>
            <a:ext cx="3291840" cy="640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49"/>
          <p:cNvSpPr/>
          <p:nvPr/>
        </p:nvSpPr>
        <p:spPr>
          <a:xfrm>
            <a:off x="8458200" y="3520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775</a:t>
            </a:r>
            <a:endParaRPr lang="en-US" sz="3200" dirty="0"/>
          </a:p>
        </p:txBody>
      </p:sp>
      <p:sp>
        <p:nvSpPr>
          <p:cNvPr id="61" name="Text 50"/>
          <p:cNvSpPr/>
          <p:nvPr/>
        </p:nvSpPr>
        <p:spPr>
          <a:xfrm>
            <a:off x="845820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Txns Flagged</a:t>
            </a:r>
            <a:endParaRPr lang="en-US" sz="1100" dirty="0"/>
          </a:p>
        </p:txBody>
      </p:sp>
      <p:sp>
        <p:nvSpPr>
          <p:cNvPr id="62" name="Text 51"/>
          <p:cNvSpPr/>
          <p:nvPr/>
        </p:nvSpPr>
        <p:spPr>
          <a:xfrm>
            <a:off x="8458200" y="4315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Surfaced for immediate review</a:t>
            </a:r>
            <a:endParaRPr lang="en-US" sz="900" dirty="0"/>
          </a:p>
        </p:txBody>
      </p:sp>
      <p:sp>
        <p:nvSpPr>
          <p:cNvPr id="63" name="Shape 52"/>
          <p:cNvSpPr/>
          <p:nvPr/>
        </p:nvSpPr>
        <p:spPr>
          <a:xfrm>
            <a:off x="8321040" y="4754880"/>
            <a:ext cx="3291840" cy="123444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3"/>
          <p:cNvSpPr/>
          <p:nvPr/>
        </p:nvSpPr>
        <p:spPr>
          <a:xfrm>
            <a:off x="8321040" y="4754880"/>
            <a:ext cx="32918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4"/>
          <p:cNvSpPr/>
          <p:nvPr/>
        </p:nvSpPr>
        <p:spPr>
          <a:xfrm>
            <a:off x="8458200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1,086</a:t>
            </a:r>
            <a:endParaRPr lang="en-US" sz="3200" dirty="0"/>
          </a:p>
        </p:txBody>
      </p:sp>
      <p:sp>
        <p:nvSpPr>
          <p:cNvPr id="66" name="Text 55"/>
          <p:cNvSpPr/>
          <p:nvPr/>
        </p:nvSpPr>
        <p:spPr>
          <a:xfrm>
            <a:off x="8458200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Accounts to Freeze</a:t>
            </a:r>
            <a:endParaRPr lang="en-US" sz="1100" dirty="0"/>
          </a:p>
        </p:txBody>
      </p:sp>
      <p:sp>
        <p:nvSpPr>
          <p:cNvPr id="67" name="Text 56"/>
          <p:cNvSpPr/>
          <p:nvPr/>
        </p:nvSpPr>
        <p:spPr>
          <a:xfrm>
            <a:off x="8458200" y="5687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 confirmed fraud nodes</a:t>
            </a:r>
            <a:endParaRPr lang="en-US" sz="900" dirty="0"/>
          </a:p>
        </p:txBody>
      </p:sp>
      <p:sp>
        <p:nvSpPr>
          <p:cNvPr id="68" name="Shape 57"/>
          <p:cNvSpPr/>
          <p:nvPr/>
        </p:nvSpPr>
        <p:spPr>
          <a:xfrm>
            <a:off x="548640" y="6245352"/>
            <a:ext cx="11064240" cy="274320"/>
          </a:xfrm>
          <a:prstGeom prst="rect">
            <a:avLst/>
          </a:prstGeom>
          <a:solidFill>
            <a:srgbClr val="0A2A1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9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6272784"/>
            <a:ext cx="219456" cy="219456"/>
          </a:xfrm>
          <a:prstGeom prst="rect">
            <a:avLst/>
          </a:prstGeom>
        </p:spPr>
      </p:pic>
      <p:sp>
        <p:nvSpPr>
          <p:cNvPr id="70" name="Text 58"/>
          <p:cNvSpPr/>
          <p:nvPr/>
        </p:nvSpPr>
        <p:spPr>
          <a:xfrm>
            <a:off x="1005840" y="6245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is predictable and preventable — this dashboard surfaces $249K of immediately actionable risk.</a:t>
            </a:r>
            <a:endParaRPr lang="en-US" sz="1100" dirty="0"/>
          </a:p>
        </p:txBody>
      </p:sp>
      <p:sp>
        <p:nvSpPr>
          <p:cNvPr id="71" name="Shape 59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0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73" name="Text 61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1057</Words>
  <Application>Microsoft Macintosh PowerPoint</Application>
  <PresentationFormat>Widescreen</PresentationFormat>
  <Paragraphs>227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</dc:title>
  <dc:subject>PptxGenJS Presentation</dc:subject>
  <dc:creator>Team E_G14</dc:creator>
  <cp:lastModifiedBy>Parrv Luthra</cp:lastModifiedBy>
  <cp:revision>2</cp:revision>
  <dcterms:created xsi:type="dcterms:W3CDTF">2026-04-28T21:46:16Z</dcterms:created>
  <dcterms:modified xsi:type="dcterms:W3CDTF">2026-05-04T05:49:42Z</dcterms:modified>
</cp:coreProperties>
</file>